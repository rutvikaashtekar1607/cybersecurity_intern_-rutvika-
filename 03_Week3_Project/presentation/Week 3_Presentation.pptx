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104"/>
    <a:srgbClr val="66FFFF"/>
    <a:srgbClr val="E1F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9319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1893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69491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44968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64070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049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2956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6336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31803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3E08220-0958-4EB6-84AC-FBA5654D4035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28488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601756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97012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31637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11013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0368420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26039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1162696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65582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09847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72375241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32029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48200797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530591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41167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C42483-B3E3-4399-B6B2-4B1D067F8CE5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5436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A36574F-2CAD-411B-9EF3-12D0DF2C09EB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31817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1491A9-BF26-4517-AB22-6183D453A902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631369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950634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415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23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4114800" cy="4114800"/>
          </a:xfrm>
          <a:prstGeom prst="ellipse">
            <a:avLst/>
          </a:prstGeom>
          <a:ln w="19050">
            <a:solidFill>
              <a:srgbClr val="2E3A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754880"/>
            <a:ext cx="3017520" cy="3017520"/>
          </a:xfrm>
          <a:prstGeom prst="ellipse">
            <a:avLst/>
          </a:prstGeom>
          <a:ln w="19050">
            <a:solidFill>
              <a:srgbClr val="2E3A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5303520"/>
            <a:ext cx="1920240" cy="1920240"/>
          </a:xfrm>
          <a:prstGeom prst="ellipse">
            <a:avLst/>
          </a:prstGeom>
          <a:ln w="19050">
            <a:solidFill>
              <a:srgbClr val="3A4A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1440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152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0116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CyberOS Firewall Security</a:t>
            </a:r>
            <a:endParaRPr lang="en-US" sz="4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Posture Analyzer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Firewall Policy Before It Ever Reaches Production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572000"/>
            <a:ext cx="2926080" cy="0"/>
          </a:xfrm>
          <a:prstGeom prst="line">
            <a:avLst/>
          </a:prstGeom>
          <a:noFill/>
          <a:ln w="19050">
            <a:solidFill>
              <a:srgbClr val="3A4A9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Rutvika Mahadev Ashtekar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5166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Engineering Intern, EduRankAI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486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 BCA Program , Diploma in cyber crime investigation , Fy BA LLB law student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881360" y="411480"/>
            <a:ext cx="731520" cy="7315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55" y="601675"/>
            <a:ext cx="351130" cy="3511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1959559"/>
            <a:ext cx="241402" cy="2414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 pre-deployment check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234440" y="2121408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6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sets get loaded and enforced as-is — nothing validates them before they go live.</a:t>
            </a:r>
            <a:endParaRPr lang="en-US" sz="1250" dirty="0">
              <a:solidFill>
                <a:srgbClr val="66FFFF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337687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218688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Overly permissive bindings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234440" y="3538728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6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source rules (0.0.0.0/0) let any host reach a protected service.</a:t>
            </a:r>
            <a:endParaRPr lang="en-US" sz="1250" dirty="0">
              <a:solidFill>
                <a:srgbClr val="66FFFF"/>
              </a:solidFill>
            </a:endParaRPr>
          </a:p>
        </p:txBody>
      </p:sp>
      <p:sp>
        <p:nvSpPr>
          <p:cNvPr id="13" name="Shape 8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4794199"/>
            <a:ext cx="241402" cy="2414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4636008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Exposed sensitive ports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234440" y="4956048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6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Management-plane ports like Telnet (23) and MySQL (3306) end up reachable with no flag raised.</a:t>
            </a:r>
            <a:endParaRPr lang="en-US" sz="1250" dirty="0">
              <a:solidFill>
                <a:srgbClr val="66FFFF"/>
              </a:solidFill>
            </a:endParaRPr>
          </a:p>
        </p:txBody>
      </p:sp>
      <p:sp>
        <p:nvSpPr>
          <p:cNvPr id="17" name="Shape 11"/>
          <p:cNvSpPr/>
          <p:nvPr/>
        </p:nvSpPr>
        <p:spPr>
          <a:xfrm>
            <a:off x="7040880" y="1828800"/>
            <a:ext cx="4572000" cy="4023360"/>
          </a:xfrm>
          <a:prstGeom prst="roundRect">
            <a:avLst>
              <a:gd name="adj" fmla="val 1818"/>
            </a:avLst>
          </a:prstGeom>
          <a:solidFill>
            <a:srgbClr val="000104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731520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firewall_rules.json</a:t>
            </a:r>
            <a:endParaRPr lang="en-US" sz="1300" dirty="0">
              <a:solidFill>
                <a:srgbClr val="66FFFF"/>
              </a:solidFill>
            </a:endParaRPr>
          </a:p>
        </p:txBody>
      </p:sp>
      <p:sp>
        <p:nvSpPr>
          <p:cNvPr id="19" name="Text 13"/>
          <p:cNvSpPr/>
          <p:nvPr/>
        </p:nvSpPr>
        <p:spPr>
          <a:xfrm>
            <a:off x="7315200" y="2468880"/>
            <a:ext cx="4023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6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>
              <a:solidFill>
                <a:srgbClr val="66FFF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6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"action": "allow",</a:t>
            </a:r>
            <a:endParaRPr lang="en-US" sz="1350" dirty="0">
              <a:solidFill>
                <a:srgbClr val="66FFF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6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"src": "</a:t>
            </a:r>
            <a:endParaRPr lang="en-US" sz="1350" dirty="0">
              <a:solidFill>
                <a:srgbClr val="66FFF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66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0.0.0.0/0</a:t>
            </a:r>
            <a:r>
              <a:rPr lang="en-US" sz="1350" dirty="0">
                <a:solidFill>
                  <a:srgbClr val="66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n-US" sz="1350" dirty="0">
              <a:solidFill>
                <a:srgbClr val="66FFF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6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"dst_port": </a:t>
            </a:r>
            <a:endParaRPr lang="en-US" sz="1350" dirty="0">
              <a:solidFill>
                <a:srgbClr val="66FFF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66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23</a:t>
            </a:r>
            <a:endParaRPr lang="en-US" sz="1350" dirty="0">
              <a:solidFill>
                <a:srgbClr val="66FFF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6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>
              <a:solidFill>
                <a:srgbClr val="66FFFF"/>
              </a:solidFill>
            </a:endParaRPr>
          </a:p>
        </p:txBody>
      </p:sp>
      <p:sp>
        <p:nvSpPr>
          <p:cNvPr id="20" name="Shape 14"/>
          <p:cNvSpPr/>
          <p:nvPr/>
        </p:nvSpPr>
        <p:spPr>
          <a:xfrm>
            <a:off x="7315200" y="4480560"/>
            <a:ext cx="1554480" cy="41148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</p:sp>
      <p:sp>
        <p:nvSpPr>
          <p:cNvPr id="21" name="Text 15"/>
          <p:cNvSpPr/>
          <p:nvPr/>
        </p:nvSpPr>
        <p:spPr>
          <a:xfrm>
            <a:off x="7315200" y="4480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315200" y="50749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risk_analyzer.py catches both patterns during a static scan.</a:t>
            </a:r>
            <a:endParaRPr lang="en-US" sz="1200" dirty="0">
              <a:solidFill>
                <a:srgbClr val="66FFFF"/>
              </a:solidFill>
            </a:endParaRPr>
          </a:p>
        </p:txBody>
      </p:sp>
      <p:sp>
        <p:nvSpPr>
          <p:cNvPr id="23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Firewall Security Posture Analyzer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Security Context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881360" y="411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55" y="601675"/>
            <a:ext cx="351130" cy="351130"/>
          </a:xfrm>
          <a:prstGeom prst="rect">
            <a:avLst/>
          </a:prstGeom>
          <a:solidFill>
            <a:srgbClr val="000104"/>
          </a:solidFill>
        </p:spPr>
      </p:pic>
      <p:sp>
        <p:nvSpPr>
          <p:cNvPr id="5" name="Shape 2"/>
          <p:cNvSpPr/>
          <p:nvPr/>
        </p:nvSpPr>
        <p:spPr>
          <a:xfrm>
            <a:off x="548640" y="1828800"/>
            <a:ext cx="5303520" cy="1737360"/>
          </a:xfrm>
          <a:prstGeom prst="roundRect">
            <a:avLst>
              <a:gd name="adj" fmla="val 4211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2257654"/>
            <a:ext cx="285293" cy="285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0848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600200" y="245059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PowerShell, Python 3.14.7 — local development sandbox.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309360" y="1828800"/>
            <a:ext cx="5303520" cy="1737360"/>
          </a:xfrm>
          <a:prstGeom prst="roundRect">
            <a:avLst>
              <a:gd name="adj" fmla="val 4211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11" name="Shape 7"/>
          <p:cNvSpPr/>
          <p:nvPr/>
        </p:nvSpPr>
        <p:spPr>
          <a:xfrm>
            <a:off x="6583680" y="2103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8214" y="225765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60920" y="20848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360920" y="245059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rule payloads and local interface loops only.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840480"/>
            <a:ext cx="5303520" cy="1737360"/>
          </a:xfrm>
          <a:prstGeom prst="roundRect">
            <a:avLst>
              <a:gd name="adj" fmla="val 4211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16" name="Shape 11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494" y="426933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40965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600200" y="446227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firewall policy layer (firewall_rules.json) and the engine enforcing it.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309360" y="3840480"/>
            <a:ext cx="5303520" cy="1737360"/>
          </a:xfrm>
          <a:prstGeom prst="roundRect">
            <a:avLst>
              <a:gd name="adj" fmla="val 4211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21" name="Shape 15"/>
          <p:cNvSpPr/>
          <p:nvPr/>
        </p:nvSpPr>
        <p:spPr>
          <a:xfrm>
            <a:off x="6583680" y="41148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8214" y="426933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60920" y="40965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7360920" y="446227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tested against live production traffic or a real network perimeter.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Firewall Security Posture Analyzer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Threat / Risk Landscape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881360" y="411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55" y="60167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77240" y="1920239"/>
            <a:ext cx="6858000" cy="47432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9264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0" y="2423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72400" y="33375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77240" y="42519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772400" y="4251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772400" y="5166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692640" y="53675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Firewall Security Posture Analyzer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AA83DE-D08F-0B8C-4DD9-79957CEF6305}"/>
              </a:ext>
            </a:extLst>
          </p:cNvPr>
          <p:cNvSpPr txBox="1"/>
          <p:nvPr/>
        </p:nvSpPr>
        <p:spPr>
          <a:xfrm>
            <a:off x="868193" y="2145125"/>
            <a:ext cx="7906155" cy="3609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Wide-Open Source IP Bindings (</a:t>
            </a:r>
            <a:r>
              <a:rPr lang="en-IN" sz="1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</a:rPr>
              <a:t>0.0.0.0/0</a:t>
            </a:r>
            <a:r>
              <a:rPr lang="en-IN" sz="1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):</a:t>
            </a:r>
            <a:r>
              <a:rPr lang="en-IN" sz="1400" dirty="0"/>
              <a:t> Allowing global ingress to internal services instead of restricting to trusted CIDR blocks.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Exposed Management-Plane Ports</a:t>
            </a:r>
            <a:r>
              <a:rPr lang="en-IN" sz="1400" b="1" dirty="0"/>
              <a:t>:</a:t>
            </a:r>
            <a:r>
              <a:rPr lang="en-IN" sz="1400" dirty="0"/>
              <a:t> Rule sets leaving administrative interfaces like Telnet (Port 23) or database ports (Port 3306) accessible from untrusted networks.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Missing Default-Deny Posture:</a:t>
            </a:r>
            <a:r>
              <a:rPr lang="en-IN" sz="1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1400" dirty="0"/>
              <a:t>Rule bases that rely entirely on permissive allow statements without a fallback block policy.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Unvalidated Configuration Files:</a:t>
            </a:r>
            <a:r>
              <a:rPr lang="en-IN" sz="1400" dirty="0"/>
              <a:t> Raw JSON/config modifications pushed to deployment environments without automated pre-check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The Existing Gap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881360" y="411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55" y="601675"/>
            <a:ext cx="351130" cy="3511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920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rule_engine.py does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514600"/>
            <a:ext cx="292608" cy="2926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22960" y="2514600"/>
            <a:ext cx="292608" cy="292608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2573122"/>
            <a:ext cx="175565" cy="1755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4414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First-match ALLOW / DROP evaluation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00400"/>
            <a:ext cx="292608" cy="29260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22960" y="3200400"/>
            <a:ext cx="292608" cy="292608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3258922"/>
            <a:ext cx="175565" cy="17556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80160" y="31272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whatever rule set it's given, correctly</a:t>
            </a:r>
            <a:endParaRPr lang="en-US" sz="13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292608" cy="292608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822960" y="3886200"/>
            <a:ext cx="292608" cy="292608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2" y="3944722"/>
            <a:ext cx="175565" cy="17556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280160" y="38130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live, at the packet level</a:t>
            </a:r>
            <a:endParaRPr lang="en-US" sz="1350" dirty="0"/>
          </a:p>
        </p:txBody>
      </p:sp>
      <p:sp>
        <p:nvSpPr>
          <p:cNvPr id="19" name="Shape 10"/>
          <p:cNvSpPr/>
          <p:nvPr/>
        </p:nvSpPr>
        <p:spPr>
          <a:xfrm>
            <a:off x="6217920" y="173736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BEAEA"/>
          </a:solidFill>
          <a:ln/>
        </p:spPr>
      </p:sp>
      <p:sp>
        <p:nvSpPr>
          <p:cNvPr id="20" name="Text 11"/>
          <p:cNvSpPr/>
          <p:nvPr/>
        </p:nvSpPr>
        <p:spPr>
          <a:xfrm>
            <a:off x="6492240" y="1920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600" dirty="0"/>
          </a:p>
        </p:txBody>
      </p:sp>
      <p:sp>
        <p:nvSpPr>
          <p:cNvPr id="21" name="Shape 12"/>
          <p:cNvSpPr/>
          <p:nvPr/>
        </p:nvSpPr>
        <p:spPr>
          <a:xfrm>
            <a:off x="6492240" y="2514600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762" y="2573122"/>
            <a:ext cx="175565" cy="175565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949440" y="24414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step checks the rule set before it's loaded</a:t>
            </a:r>
            <a:endParaRPr lang="en-US" sz="1350" dirty="0"/>
          </a:p>
        </p:txBody>
      </p:sp>
      <p:sp>
        <p:nvSpPr>
          <p:cNvPr id="24" name="Shape 14"/>
          <p:cNvSpPr/>
          <p:nvPr/>
        </p:nvSpPr>
        <p:spPr>
          <a:xfrm>
            <a:off x="6492240" y="3200400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762" y="3258922"/>
            <a:ext cx="175565" cy="175565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949440" y="31272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Misconfigurations only surface after they're live</a:t>
            </a:r>
            <a:endParaRPr lang="en-US" sz="1350" dirty="0"/>
          </a:p>
        </p:txBody>
      </p:sp>
      <p:sp>
        <p:nvSpPr>
          <p:cNvPr id="27" name="Shape 16"/>
          <p:cNvSpPr/>
          <p:nvPr/>
        </p:nvSpPr>
        <p:spPr>
          <a:xfrm>
            <a:off x="6492240" y="3886200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762" y="3944722"/>
            <a:ext cx="175565" cy="175565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949440" y="38130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repeatable, automated pre-deployment gate</a:t>
            </a:r>
            <a:endParaRPr lang="en-US" sz="1350" dirty="0"/>
          </a:p>
        </p:txBody>
      </p:sp>
      <p:sp>
        <p:nvSpPr>
          <p:cNvPr id="3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Firewall Security Posture Analyzer</a:t>
            </a:r>
            <a:endParaRPr lang="en-US" sz="1000" dirty="0"/>
          </a:p>
        </p:txBody>
      </p:sp>
      <p:sp>
        <p:nvSpPr>
          <p:cNvPr id="3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Solution: Two-Tier Engine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881360" y="411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55" y="601675"/>
            <a:ext cx="351130" cy="3511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Runtime Engine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rule_engine.py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packet_sniffer.py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connection_tracker.py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traffic decisions live, packet by packet.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92240" y="182880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Static Audit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766560" y="24688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rule_parser.py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risk_analyzer.py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scorer.py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66560" y="3749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rule set itself before deployment.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108960" y="4892040"/>
            <a:ext cx="594360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3566160" y="507492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141B4D"/>
          </a:solidFill>
          <a:ln/>
        </p:spPr>
      </p:sp>
      <p:sp>
        <p:nvSpPr>
          <p:cNvPr id="15" name="Text 12"/>
          <p:cNvSpPr/>
          <p:nvPr/>
        </p:nvSpPr>
        <p:spPr>
          <a:xfrm>
            <a:off x="3794760" y="5074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scripts/run_pipeline.py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66160" y="5715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tiers are tied together by one entry point.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Firewall Security Posture Analyzer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Static Audit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881360" y="411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55" y="601675"/>
            <a:ext cx="351130" cy="3511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2860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" y="242316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firewall_rules.json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2971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policy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 rot="5400000">
            <a:off x="2683764" y="2862072"/>
            <a:ext cx="164592" cy="219456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2880360" y="22860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53512" y="242316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rule_parser.py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971800" y="2971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structure, normalizes fields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 rot="5400000">
            <a:off x="5015484" y="2862072"/>
            <a:ext cx="164592" cy="219456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5212080" y="22860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85232" y="242316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risk_analyzer.py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303520" y="2971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permissive rules &amp; sensitive ports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 rot="5400000">
            <a:off x="7347204" y="2862072"/>
            <a:ext cx="164592" cy="219456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7" name="Shape 14"/>
          <p:cNvSpPr/>
          <p:nvPr/>
        </p:nvSpPr>
        <p:spPr>
          <a:xfrm>
            <a:off x="7543800" y="22860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16952" y="242316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scorer.py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635240" y="2971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findings into a posture score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 rot="5400000">
            <a:off x="9678924" y="2862072"/>
            <a:ext cx="164592" cy="219456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21" name="Shape 18"/>
          <p:cNvSpPr/>
          <p:nvPr/>
        </p:nvSpPr>
        <p:spPr>
          <a:xfrm>
            <a:off x="9875520" y="2286000"/>
            <a:ext cx="210312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948672" y="242316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scan_results.json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966960" y="2971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artifact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static pipeline is separate from the runtime engine — no live traffic needed to run it.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5159959"/>
            <a:ext cx="241402" cy="24140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234440" y="5001768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validate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1234440" y="532180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malformed JSON, duplicate rule IDs, and invalid fields up front.</a:t>
            </a:r>
            <a:endParaRPr lang="en-US" sz="125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9" name="Shape 25"/>
          <p:cNvSpPr/>
          <p:nvPr/>
        </p:nvSpPr>
        <p:spPr>
          <a:xfrm>
            <a:off x="6309360" y="5029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119" y="5159959"/>
            <a:ext cx="241402" cy="24140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995160" y="5001768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report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6995160" y="532180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produces a numeric posture score plus a finding list.</a:t>
            </a:r>
            <a:endParaRPr lang="en-US" sz="125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3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Firewall Security Posture Analyzer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881360" y="411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55" y="601675"/>
            <a:ext cx="351130" cy="3511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141B4D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Cybersecurity_Intern_-Rutvika-/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71600" y="24231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03_Week3_Project/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87452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src/rule_parser.py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669280" y="28803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and validates policy JSON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74520" y="3337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src/risk_analyzer.py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669280" y="33375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permissive rules &amp; exposed ports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874520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src/scorer.py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669280" y="37947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findings into a numeric score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71600" y="42519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scripts/run_pipeline.py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669280" y="4251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audit end to end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371600" y="47091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results/scan_results.json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669280" y="47091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artifact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371600" y="51663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tests/test_analyzer.py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669280" y="51663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unit tests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Firewall Security Posture Analyzer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Working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881360" y="411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55" y="601675"/>
            <a:ext cx="351130" cy="3511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5760720" cy="594360"/>
          </a:xfrm>
          <a:prstGeom prst="roundRect">
            <a:avLst>
              <a:gd name="adj" fmla="val 12308"/>
            </a:avLst>
          </a:prstGeom>
          <a:solidFill>
            <a:srgbClr val="141B4D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7373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scripts/run_pipeline.py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273679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57860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rule set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34440" y="2898648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malformed input before analysis even starts.</a:t>
            </a:r>
            <a:endParaRPr lang="en-US" sz="125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1" name="Shape 7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374263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58444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Flags permissive rules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34440" y="3904488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0.0.0.0/0 bindings and any-protocol rules.</a:t>
            </a:r>
            <a:endParaRPr lang="en-US" sz="125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474847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459028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Flags sensitive ports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34440" y="4910328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tx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exposure on ports like Telnet (23) and MySQL (3306).</a:t>
            </a:r>
            <a:endParaRPr lang="en-US" sz="125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766560" y="1737360"/>
            <a:ext cx="4846320" cy="4023360"/>
          </a:xfrm>
          <a:prstGeom prst="roundRect">
            <a:avLst>
              <a:gd name="adj" fmla="val 1818"/>
            </a:avLst>
          </a:prstGeom>
          <a:solidFill>
            <a:srgbClr val="F7F8FC"/>
          </a:solidFill>
          <a:ln/>
        </p:spPr>
      </p:sp>
      <p:sp>
        <p:nvSpPr>
          <p:cNvPr id="20" name="Text 14"/>
          <p:cNvSpPr/>
          <p:nvPr/>
        </p:nvSpPr>
        <p:spPr>
          <a:xfrm>
            <a:off x="704088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posture score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040880" y="25603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80/100</a:t>
            </a:r>
            <a:endParaRPr lang="en-US" sz="4400" dirty="0"/>
          </a:p>
        </p:txBody>
      </p:sp>
      <p:sp>
        <p:nvSpPr>
          <p:cNvPr id="22" name="Text 16"/>
          <p:cNvSpPr/>
          <p:nvPr/>
        </p:nvSpPr>
        <p:spPr>
          <a:xfrm>
            <a:off x="7040880" y="3337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rules </a:t>
            </a:r>
            <a:r>
              <a:rPr lang="en-I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 Risk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 a representative test policy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040880" y="457200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written to results/scan_results.json alongside the full finding list.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4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Firewall Security Posture Analyzer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881360" y="411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55" y="601675"/>
            <a:ext cx="351130" cy="3511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965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test_analyzer.py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37560" y="18288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</p:spPr>
      </p:sp>
      <p:sp>
        <p:nvSpPr>
          <p:cNvPr id="9" name="Text 6"/>
          <p:cNvSpPr/>
          <p:nvPr/>
        </p:nvSpPr>
        <p:spPr>
          <a:xfrm>
            <a:off x="3337560" y="1965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33756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26480" y="18288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1965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612648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failure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(documented)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915400" y="18288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</p:spPr>
      </p:sp>
      <p:sp>
        <p:nvSpPr>
          <p:cNvPr id="15" name="Text 12"/>
          <p:cNvSpPr/>
          <p:nvPr/>
        </p:nvSpPr>
        <p:spPr>
          <a:xfrm>
            <a:off x="8915400" y="1965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25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89154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project-wide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Week 1 engine)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covered: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50799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434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rule IDs</a:t>
            </a:r>
            <a:endParaRPr lang="en-US" sz="13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48640" y="48920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48188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JSON</a:t>
            </a:r>
            <a:endParaRPr lang="en-US" sz="13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48640" y="527608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520293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input file</a:t>
            </a:r>
            <a:endParaRPr lang="en-US" sz="13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48640" y="566013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55869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Empty-findings state</a:t>
            </a:r>
            <a:endParaRPr lang="en-US" sz="13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309360" y="393192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BEAEA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failure — test_10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583680" y="45262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Sample-policy count assertion mismatch. Documented rather than silently dropped — flagged for a follow-up fix, not treated as passing.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Firewall Security Posture Analyzer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881360" y="411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55" y="601675"/>
            <a:ext cx="351130" cy="3511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3291840" cy="39776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Score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8346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80/100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sample </a:t>
            </a:r>
            <a:r>
              <a:rPr lang="en-US" sz="1200" dirty="0" err="1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scan_results.json</a:t>
            </a: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run</a:t>
            </a:r>
          </a:p>
          <a:p>
            <a:pPr algn="ctr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Posture: High Risk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955266" y="1847088"/>
            <a:ext cx="758952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4251960" y="20116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719" y="214243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1965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Overly permissive rule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23317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4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"src": "0.0.0.0/0" on an ALLOW rule — any host can reach the target.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93776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Firewall Security Posture Analyzer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Security Impact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881360" y="411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55" y="601675"/>
            <a:ext cx="351130" cy="3511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2050999"/>
            <a:ext cx="241402" cy="2414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892808"/>
            <a:ext cx="10195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issues before deployment</a:t>
            </a:r>
            <a:endParaRPr lang="en-US" sz="1500" dirty="0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1325880" y="2212848"/>
            <a:ext cx="10195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rules are flagged before they're ever loaded into rule_engine.py.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42259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3264408"/>
            <a:ext cx="10195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overhead</a:t>
            </a:r>
            <a:endParaRPr lang="en-US" sz="1500" dirty="0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1325880" y="3584448"/>
            <a:ext cx="10195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single JSON scan — no live traffic or running engine required.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4794199"/>
            <a:ext cx="241402" cy="2414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636008"/>
            <a:ext cx="10195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compliance check</a:t>
            </a:r>
            <a:endParaRPr lang="en-US" sz="1500" dirty="0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16" name="Text 10"/>
          <p:cNvSpPr/>
          <p:nvPr/>
        </p:nvSpPr>
        <p:spPr>
          <a:xfrm>
            <a:off x="1325880" y="4956048"/>
            <a:ext cx="10195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Runs the same checks every time against the issues already identified in the Week 2 risk register.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Firewall Security Posture Analyzer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881360" y="411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55" y="601675"/>
            <a:ext cx="351130" cy="3511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99339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856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 checks only — no Layer 7 deep packet inspection</a:t>
            </a:r>
            <a:endParaRPr lang="en-US" sz="145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Shape 4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743200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2606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issues, doesn't fix them — no auto-remediation or auto-patching</a:t>
            </a:r>
            <a:endParaRPr lang="en-US" sz="145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Shape 6"/>
          <p:cNvSpPr/>
          <p:nvPr/>
        </p:nvSpPr>
        <p:spPr>
          <a:xfrm>
            <a:off x="640080" y="337413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493008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33558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engine still has no persistent state (alerts/connections lost on restart)</a:t>
            </a:r>
            <a:endParaRPr lang="en-US" sz="145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Shape 8"/>
          <p:cNvSpPr/>
          <p:nvPr/>
        </p:nvSpPr>
        <p:spPr>
          <a:xfrm>
            <a:off x="640080" y="4123944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242816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25880" y="410565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API still has no authentication — RISK-003 remains open</a:t>
            </a:r>
            <a:endParaRPr lang="en-US" sz="145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Shape 10"/>
          <p:cNvSpPr/>
          <p:nvPr/>
        </p:nvSpPr>
        <p:spPr>
          <a:xfrm>
            <a:off x="640080" y="487375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992624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25880" y="485546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structured-check based, not independently penetration-tested</a:t>
            </a:r>
            <a:endParaRPr lang="en-US" sz="145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Text 1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Firewall Security Posture Analyzer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881360" y="411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555" y="601675"/>
            <a:ext cx="351130" cy="3511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8590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148590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7F8F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317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 for scan history instead of one-off JSON output.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 rot="5400000">
            <a:off x="3140964" y="3456432"/>
            <a:ext cx="164592" cy="219456"/>
          </a:xfrm>
          <a:prstGeom prst="triangle">
            <a:avLst/>
          </a:prstGeom>
          <a:solidFill>
            <a:srgbClr val="5B6B8C"/>
          </a:solidFill>
          <a:ln/>
        </p:spPr>
      </p:sp>
      <p:sp>
        <p:nvSpPr>
          <p:cNvPr id="11" name="Shape 8"/>
          <p:cNvSpPr/>
          <p:nvPr/>
        </p:nvSpPr>
        <p:spPr>
          <a:xfrm>
            <a:off x="432054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432054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383280" y="210312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7F8FC"/>
          </a:solidFill>
          <a:ln/>
        </p:spPr>
      </p:sp>
      <p:sp>
        <p:nvSpPr>
          <p:cNvPr id="14" name="Text 11"/>
          <p:cNvSpPr/>
          <p:nvPr/>
        </p:nvSpPr>
        <p:spPr>
          <a:xfrm>
            <a:off x="3566160" y="23317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authentication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566160" y="301752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 (JWT / OAuth) for the management API.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 rot="5400000">
            <a:off x="5975604" y="3456432"/>
            <a:ext cx="164592" cy="219456"/>
          </a:xfrm>
          <a:prstGeom prst="triangle">
            <a:avLst/>
          </a:prstGeom>
          <a:solidFill>
            <a:srgbClr val="5B6B8C"/>
          </a:solidFill>
          <a:ln/>
        </p:spPr>
      </p:sp>
      <p:sp>
        <p:nvSpPr>
          <p:cNvPr id="17" name="Shape 14"/>
          <p:cNvSpPr/>
          <p:nvPr/>
        </p:nvSpPr>
        <p:spPr>
          <a:xfrm>
            <a:off x="715518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715518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6217920" y="210312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7F8FC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23317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formats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400800" y="301752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Parsers for other configs — AWS security groups, Azure NSGs.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 rot="5400000">
            <a:off x="8810244" y="3456432"/>
            <a:ext cx="164592" cy="219456"/>
          </a:xfrm>
          <a:prstGeom prst="triangle">
            <a:avLst/>
          </a:prstGeom>
          <a:solidFill>
            <a:srgbClr val="5B6B8C"/>
          </a:solidFill>
          <a:ln/>
        </p:spPr>
      </p:sp>
      <p:sp>
        <p:nvSpPr>
          <p:cNvPr id="23" name="Shape 20"/>
          <p:cNvSpPr/>
          <p:nvPr/>
        </p:nvSpPr>
        <p:spPr>
          <a:xfrm>
            <a:off x="998982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99898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9052560" y="210312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7F8FC"/>
          </a:solidFill>
          <a:ln/>
        </p:spPr>
      </p:sp>
      <p:sp>
        <p:nvSpPr>
          <p:cNvPr id="26" name="Text 23"/>
          <p:cNvSpPr/>
          <p:nvPr/>
        </p:nvSpPr>
        <p:spPr>
          <a:xfrm>
            <a:off x="9235440" y="23317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layer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9235440" y="301752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3A4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ML-based layer on top of the existing static rule checks.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CyberOS Firewall Security Posture Analyzer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40080" y="54864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73883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94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41B4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745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2-tier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engine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AA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audit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06240" y="17373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41B4D"/>
          </a:solidFill>
          <a:ln/>
        </p:spPr>
      </p:sp>
      <p:sp>
        <p:nvSpPr>
          <p:cNvPr id="10" name="Text 7"/>
          <p:cNvSpPr/>
          <p:nvPr/>
        </p:nvSpPr>
        <p:spPr>
          <a:xfrm>
            <a:off x="4206240" y="18745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25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206240" y="2651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AA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project-wide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0" y="17373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41B4D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0" y="18745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~26 hrs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7772400" y="2651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close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AA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critical risks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3840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gap between “the engine enforces rules correctly” and “the rules themselves were checked first.”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" y="4434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pre-deployment validation, built and tested alongside a working runtime firewall engine.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5943600"/>
            <a:ext cx="2926080" cy="0"/>
          </a:xfrm>
          <a:prstGeom prst="line">
            <a:avLst/>
          </a:prstGeom>
          <a:noFill/>
          <a:ln w="19050">
            <a:solidFill>
              <a:srgbClr val="3A4A9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6080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Rutvika Mahadev Ashtekar  ·  Cybersecurity Engineering Intern, EduRankAI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116</TotalTime>
  <Words>1122</Words>
  <Application>Microsoft Office PowerPoint</Application>
  <PresentationFormat>Widescreen</PresentationFormat>
  <Paragraphs>212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Neue Haas Grotesk Text Pro</vt:lpstr>
      <vt:lpstr>Times New Roman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rutvika ashtekar</cp:lastModifiedBy>
  <cp:revision>3</cp:revision>
  <dcterms:created xsi:type="dcterms:W3CDTF">2026-09-02T04:24:44Z</dcterms:created>
  <dcterms:modified xsi:type="dcterms:W3CDTF">2026-09-02T06:24:36Z</dcterms:modified>
</cp:coreProperties>
</file>